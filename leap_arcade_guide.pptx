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8F7FA"/>
                </a:solidFill>
                <a:latin typeface="Press Start 2P"/>
              </a:defRPr>
            </a:pPr>
            <a:r>
              <a:t>GLITCH &amp; GIGGLE</a:t>
            </a:r>
          </a:p>
          <a:p>
            <a:pPr algn="ctr">
              <a:spcBef>
                <a:spcPts val="1400"/>
              </a:spcBef>
              <a:defRPr sz="1800">
                <a:solidFill>
                  <a:srgbClr val="6366F1"/>
                </a:solidFill>
                <a:latin typeface="Press Start 2P"/>
              </a:defRPr>
            </a:pPr>
            <a:r>
              <a:t>LEAP ARCADE PLAYER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8B5C4"/>
                </a:solidFill>
                <a:latin typeface="Inter"/>
              </a:defRPr>
            </a:pPr>
            <a:r>
              <a:t>5 Connected Arcade Rounds • Dynamic Scoring Model • Joint Answer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5190" y="4937760"/>
            <a:ext cx="3200400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C0A15"/>
                </a:solidFill>
                <a:latin typeface="Press Start 2P"/>
              </a:defRPr>
            </a:pPr>
            <a:r>
              <a:t>INSERT COIN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TOURNAMENT RULES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5836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217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Corporate Event Framework: Play alongside 100–200 employees on a single platform.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Fast Authentication: Log in securely using your Employee ID and the shared Event Code.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Unified Game Lobby: Discover and enter tiles corresponding to 5 engineering mini-games.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Scoring Paradigm: Scores aggregate across all games. High speed and precision yield maximum rank.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Completion Deadline: Play and submit all games before the event window closes.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36992" y="1536192"/>
            <a:ext cx="356616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56616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2004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LOBBY STANDINGS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1. Alice.D (DevOps)   - 4,820 pts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2. Bob.S (QA)          - 4,610 pts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3. Charlie.M (Ops)     - 4,250 pts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4. Diana.R (HR)        - 3,980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285232"/>
            <a:ext cx="31089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31089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👥 PLAYER CAPACITY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100 - 200 Employees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5285232"/>
            <a:ext cx="31089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5212080"/>
            <a:ext cx="31089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530352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📊 SCORING TYPE</a:t>
            </a:r>
          </a:p>
          <a:p>
            <a:pPr>
              <a:defRPr sz="1200" b="1">
                <a:solidFill>
                  <a:srgbClr val="6366F1"/>
                </a:solidFill>
                <a:latin typeface="Inter"/>
              </a:defRPr>
            </a:pPr>
            <a:r>
              <a:t>Speed + Accuracy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4112" y="5285232"/>
            <a:ext cx="3749039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5212080"/>
            <a:ext cx="3749039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5303520"/>
            <a:ext cx="35661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⏱️ EVENT SESSION</a:t>
            </a:r>
          </a:p>
          <a:p>
            <a:pPr>
              <a:defRPr sz="1200" b="1">
                <a:solidFill>
                  <a:srgbClr val="6366F1"/>
                </a:solidFill>
                <a:latin typeface="Inter"/>
              </a:defRPr>
            </a:pPr>
            <a:r>
              <a:t>Single-day Tournament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6CE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WIKIPEDIA SPEED RUN -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85800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85800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Objective: Navigate from a starting Wikipedia page to a designated target page in the fewest clicks.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diegetic Frame: Renders a clean Wikipedia page. Only clicking links inside the frame is valid.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Speedrun Decrypting: Clues are provided to identify the target subject before you start clicking.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Backtracking Disabled: You cannot use browser back controls. Breadcrumbs keep track of your active chain.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Efficiency Priority: Click count is the primary metric; session elapsed time is the tiebreaker.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36192"/>
            <a:ext cx="33832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3474720"/>
          </a:xfrm>
          <a:prstGeom prst="rect">
            <a:avLst/>
          </a:prstGeom>
          <a:solidFill>
            <a:srgbClr val="161426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7FA"/>
                </a:solidFill>
                <a:latin typeface="Press Start 2P"/>
              </a:defRPr>
            </a:pPr>
            <a:r>
              <a:t>Wiki Page: Biology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8B5C4"/>
                </a:solidFill>
                <a:latin typeface="Inter"/>
              </a:defRPr>
            </a:pPr>
            <a:r>
              <a:t>Biology is the study of life. It connects molecular systems, structures, and modern computation architectures such as neural networks...</a:t>
            </a:r>
          </a:p>
          <a:p>
            <a:pPr>
              <a:spcBef>
                <a:spcPts val="1400"/>
              </a:spcBef>
              <a:defRPr sz="1100" u="sng">
                <a:solidFill>
                  <a:srgbClr val="6CE7FC"/>
                </a:solidFill>
                <a:latin typeface="Inter"/>
              </a:defRPr>
            </a:pPr>
            <a:r>
              <a:t>➔ Link: neural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🏆 IDEAL TARGET</a:t>
            </a:r>
          </a:p>
          <a:p>
            <a:pPr>
              <a:defRPr sz="1200" b="1">
                <a:solidFill>
                  <a:srgbClr val="6CE7FC"/>
                </a:solidFill>
                <a:latin typeface="Inter"/>
              </a:defRPr>
            </a:pPr>
            <a:r>
              <a:t>3 Clicks (Perfect Path)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⏰ MAX DURATION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5 Minutes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🎯 GOAL TOPIC</a:t>
            </a:r>
          </a:p>
          <a:p>
            <a:pPr>
              <a:defRPr sz="1200" b="1">
                <a:solidFill>
                  <a:srgbClr val="6CE7FC"/>
                </a:solidFill>
                <a:latin typeface="Inter"/>
              </a:defRPr>
            </a:pPr>
            <a:r>
              <a:t>Attention (machine learning)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6CE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WIKIPEDIA SPEED RUN - PATH WALKTHROUGHS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6CE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Path Example 01: Attention</a:t>
            </a:r>
          </a:p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Start Node: Biology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Clue: "I let the model peek around, to find which words count."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Destination: Attention (machine learning)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Clicks Count: 3 (Optimal)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1. Biology ➔ Click 'Computer'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2. Computer ➔ Click 'Artificial Intelligence'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3. Artificial Intelligence ➔ Click 'Attention'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Path Example 02: Word Embedding</a:t>
            </a:r>
          </a:p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Start Node: Biology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Clue: "(KING - MAN) + WOMAN = QUEEN. Vector representation."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Destination: Word Embedding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Clicks Count: 4 (Optimal)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1. Biology ➔ Click 'Science'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2. Science ➔ Click 'Linguistics'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3. Linguistics ➔ Click 'Natural Language Processing'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  4. Natural Language Processing ➔ Click 'Word Embedding'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RAPID FIRE QUIZ -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85800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85800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Objective: Resolve multiple-choice engineering trivia questions in rapid succession.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Subject Scope: Software engineering architecture, databases, cloud, and DevOps practices.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Speed Multiplier: Answers under 5 seconds apply a 2x point scale, decaying linearly to 1x by second 15.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Penalty Model: Incorrect answers deduct 50 points and lock input for a brief 2 seconds.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Locked Sequence: Skips are disabled. Each trivia item must be completed to load the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36192"/>
            <a:ext cx="33832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TELEMETRY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⏱️ Time Limit: 15.0s</a:t>
            </a:r>
            <a:br/>
            <a:r>
              <a:t>⚡ Speed Multiplier: 2.0x</a:t>
            </a:r>
            <a:br/>
            <a:r>
              <a:t>📋 Progress: Question 4 of 15</a:t>
            </a:r>
            <a:br/>
            <a:r>
              <a:t>💥 Error state: 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⭐ MAX SCORE</a:t>
            </a:r>
          </a:p>
          <a:p>
            <a:pPr>
              <a:defRPr sz="1200" b="1">
                <a:solidFill>
                  <a:srgbClr val="FFB900"/>
                </a:solidFill>
                <a:latin typeface="Inter"/>
              </a:defRPr>
            </a:pPr>
            <a:r>
              <a:t>1500 points (Zero errors)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⏰ TIMER LIMIT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15s Per 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💥 PENALTY MODEL</a:t>
            </a:r>
          </a:p>
          <a:p>
            <a:pPr>
              <a:defRPr sz="1200" b="1">
                <a:solidFill>
                  <a:srgbClr val="FFB900"/>
                </a:solidFill>
                <a:latin typeface="Inter"/>
              </a:defRPr>
            </a:pPr>
            <a:r>
              <a:t>-50 pts + 2s Lockout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RAPID FIRE QUIZ - SAMPLE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Trivia Item 01: Cold Start</a:t>
            </a:r>
          </a:p>
          <a:p>
            <a:pPr>
              <a:spcBef>
                <a:spcPts val="1000"/>
              </a:spcBef>
              <a:defRPr sz="1100">
                <a:solidFill>
                  <a:srgbClr val="B8B5C4"/>
                </a:solidFill>
                <a:latin typeface="Inter"/>
              </a:defRPr>
            </a:pPr>
            <a:r>
              <a:t>Q: Your serverless function takes 4s to respond the first time, then 200ms on subsequent calls. What is this?</a:t>
            </a:r>
            <a:br/>
            <a:br/>
            <a:r>
              <a:t>Options:</a:t>
            </a:r>
            <a:br/>
            <a:r>
              <a:t>  A) Rate-limiting throttling</a:t>
            </a:r>
            <a:br/>
            <a:r>
              <a:t>  B) Cold start initialization</a:t>
            </a:r>
            <a:br/>
            <a:r>
              <a:t>  C) Active memory leak</a:t>
            </a:r>
            <a:br/>
            <a:r>
              <a:t>  D) DNS propagation lag</a:t>
            </a:r>
          </a:p>
          <a:p>
            <a:pPr>
              <a:spcBef>
                <a:spcPts val="1200"/>
              </a:spcBef>
              <a:defRPr sz="1100" b="1">
                <a:solidFill>
                  <a:srgbClr val="F8F7FA"/>
                </a:solidFill>
                <a:latin typeface="Inter"/>
              </a:defRPr>
            </a:pPr>
            <a:r>
              <a:t>➔ Solution: B (Cold start)</a:t>
            </a:r>
            <a:br/>
            <a:r>
              <a:t>➔ Points: 100 base * 1.8x speed multiplier = 180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Trivia Item 02: DevOps</a:t>
            </a:r>
          </a:p>
          <a:p>
            <a:pPr>
              <a:spcBef>
                <a:spcPts val="1000"/>
              </a:spcBef>
              <a:defRPr sz="1100">
                <a:solidFill>
                  <a:srgbClr val="B8B5C4"/>
                </a:solidFill>
                <a:latin typeface="Inter"/>
              </a:defRPr>
            </a:pPr>
            <a:r>
              <a:t>Q: Pushing code every hour and shipping to production automatically with zero manual steps is what practice?</a:t>
            </a:r>
            <a:br/>
            <a:br/>
            <a:r>
              <a:t>Options:</a:t>
            </a:r>
            <a:br/>
            <a:r>
              <a:t>  A) Component Integration</a:t>
            </a:r>
            <a:br/>
            <a:r>
              <a:t>  B) Manual QA Testing</a:t>
            </a:r>
            <a:br/>
            <a:r>
              <a:t>  C) Continuous Integration / CD</a:t>
            </a:r>
            <a:br/>
            <a:r>
              <a:t>  D) Containerized Infrastructure</a:t>
            </a:r>
          </a:p>
          <a:p>
            <a:pPr>
              <a:spcBef>
                <a:spcPts val="1200"/>
              </a:spcBef>
              <a:defRPr sz="1100" b="1">
                <a:solidFill>
                  <a:srgbClr val="F8F7FA"/>
                </a:solidFill>
                <a:latin typeface="Inter"/>
              </a:defRPr>
            </a:pPr>
            <a:r>
              <a:t>➔ Solution: C (Continuous Integration / CD)</a:t>
            </a:r>
            <a:br/>
            <a:r>
              <a:t>➔ Points: 100 base * 1.0x speed = 100 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D07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PICTURE ILLUSTRATION -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85800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85800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Objective: Analyze a combined AI-generated illustration and input the technology concept it represents.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Input Method: Type the solution in the bottom guess bar. Spelling and spaces must match exactly.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Point Decay: The maximum round score starts at 500 points and decays continuously over the round timer.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Level Hints: Unlocks up to 3 progressive text clues (e.g. length, starting character, tech context).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Hint Penalty: Triggering each hint deducts a flat 50 points from the current remaining round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36192"/>
            <a:ext cx="33832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HINT CONSOLE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💡 Clue 1: Starts with 'P'</a:t>
            </a:r>
            <a:br/>
            <a:r>
              <a:t>🔒 Clue 2: 7 characters long</a:t>
            </a:r>
            <a:br/>
            <a:r>
              <a:t>🔒 Clue 3: Deep learning tool</a:t>
            </a:r>
            <a:br/>
            <a:br/>
            <a:r>
              <a:t>💰 Current Value: 350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⭐ MAX SCORE</a:t>
            </a:r>
          </a:p>
          <a:p>
            <a:pPr>
              <a:defRPr sz="1200" b="1">
                <a:solidFill>
                  <a:srgbClr val="D07BFD"/>
                </a:solidFill>
                <a:latin typeface="Inter"/>
              </a:defRPr>
            </a:pPr>
            <a:r>
              <a:t>500 points (Instant correct guess)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⏰ TIMER LIMIT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90 Seconds Per 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📉 HINT PENALTY</a:t>
            </a:r>
          </a:p>
          <a:p>
            <a:pPr>
              <a:defRPr sz="1200" b="1">
                <a:solidFill>
                  <a:srgbClr val="D07BFD"/>
                </a:solidFill>
                <a:latin typeface="Inter"/>
              </a:defRPr>
            </a:pPr>
            <a:r>
              <a:t>-50 pts per unlocked clue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D07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PICTURE ILLUSTRATION - GUESS WALKTHROUGHS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D07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Illustration Example 01</a:t>
            </a:r>
          </a:p>
          <a:p>
            <a:pPr>
              <a:spcBef>
                <a:spcPts val="1200"/>
              </a:spcBef>
              <a:defRPr sz="1200">
                <a:solidFill>
                  <a:srgbClr val="B8B5C4"/>
                </a:solidFill>
                <a:latin typeface="Inter"/>
              </a:defRPr>
            </a:pPr>
            <a:r>
              <a:t>• AI Visual: A large yellow-and-blue python snake wrapped around a burning campfire torch.</a:t>
            </a:r>
            <a:br/>
            <a:br/>
            <a:r>
              <a:t>• Unlocked Clues:</a:t>
            </a:r>
            <a:br/>
            <a:r>
              <a:t>  - Clue 1: Starts with 'Py'</a:t>
            </a:r>
            <a:br/>
            <a:r>
              <a:t>  - Clue 2: 7 characters long</a:t>
            </a:r>
            <a:br/>
            <a:br/>
            <a:r>
              <a:t>➔ Answer: PYTORCH</a:t>
            </a:r>
            <a:br/>
            <a:r>
              <a:t>➔ Score: 400 pts (Decayed over 15 seconds)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Illustration Example 02</a:t>
            </a:r>
          </a:p>
          <a:p>
            <a:pPr>
              <a:spcBef>
                <a:spcPts val="1200"/>
              </a:spcBef>
              <a:defRPr sz="1200">
                <a:solidFill>
                  <a:srgbClr val="B8B5C4"/>
                </a:solidFill>
                <a:latin typeface="Inter"/>
              </a:defRPr>
            </a:pPr>
            <a:r>
              <a:t>• AI Visual: A smiling yellow emoji face extending open hands in a hug, overlaid on a neural network node map.</a:t>
            </a:r>
            <a:br/>
            <a:br/>
            <a:r>
              <a:t>• Unlocked Clues:</a:t>
            </a:r>
            <a:br/>
            <a:r>
              <a:t>  - Clue 1: Starts with 'Hu'</a:t>
            </a:r>
            <a:br/>
            <a:r>
              <a:t>  - Clue 2: Space in middle</a:t>
            </a:r>
            <a:br/>
            <a:br/>
            <a:r>
              <a:t>➔ Answer: HUGGING FACE</a:t>
            </a:r>
            <a:br/>
            <a:r>
              <a:t>➔ Score: 280 pts (Decay + 1 Hint used)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7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FOUR PICS, ONE LIE -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85800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85800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Objective: Scan four AI-generated images. Identify the single image that does NOT match the shared technical theme.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Concept Connection: Three images illustrate a specific software architecture or practice. One is the imposter ('lie').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Scoring Model: Points are awarded based on speed of selecting the correct lie.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Single-Guess Restriction: You get exactly one click per round. Picking a wrong photo results in 0 points.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Theme Identification: Deduce the common link between the matching items first, then isolate the outlier.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36192"/>
            <a:ext cx="33832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ROUND BLUEPRINT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Topic: Pipeline DevOps</a:t>
            </a:r>
            <a:br/>
            <a:br/>
            <a:r>
              <a:t>Image 1: GitHub actions (Match)</a:t>
            </a:r>
            <a:br/>
            <a:r>
              <a:t>Image 2: Docker build (Match)</a:t>
            </a:r>
            <a:br/>
            <a:r>
              <a:t>Image 3: Server push (Match)</a:t>
            </a:r>
            <a:br/>
            <a:r>
              <a:t>Image 4: Printer papers (Lie)</a:t>
            </a:r>
            <a:br/>
            <a:br/>
            <a:r>
              <a:t>➔ Odd one out: Image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⭐ MAX SCORE</a:t>
            </a:r>
          </a:p>
          <a:p>
            <a:pPr>
              <a:defRPr sz="1200" b="1">
                <a:solidFill>
                  <a:srgbClr val="7DFF00"/>
                </a:solidFill>
                <a:latin typeface="Inter"/>
              </a:defRPr>
            </a:pPr>
            <a:r>
              <a:t>400 points per 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⏰ TIMER LIMIT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60 Seconds Per 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❌ CLICK LIMIT</a:t>
            </a:r>
          </a:p>
          <a:p>
            <a:pPr>
              <a:defRPr sz="1200" b="1">
                <a:solidFill>
                  <a:srgbClr val="7DFF00"/>
                </a:solidFill>
                <a:latin typeface="Inter"/>
              </a:defRPr>
            </a:pPr>
            <a:r>
              <a:t>1 Guess Only (No Retries)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7D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FOUR PICS, ONE LIE - ROUND WALKTHROUGHS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7D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Round Example 01: API Dev</a:t>
            </a:r>
          </a:p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Underlying Theme: API Development &amp; Endpoints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1: JSON schema code (Match)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2: Cloud endpoint interface (Match)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3: GET/POST REST client requests (Match)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4: Printed ledger paper books (The Lie)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➔ Action: Select Image 4 (Ledgers)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➔ Outcome: 380 pts (Quick response)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Round Example 02: Scale</a:t>
            </a:r>
          </a:p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Underlying Theme: Scalable Infrastructure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1: Row of duplicate server racks (Match)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2: Node cluster network diagram (Match)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3: Database replication arrow loops (Match)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Image 4: Passenger elevator lift shaft (The Lie)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➔ Action: Select Image 4 (Elevator shaft)</a:t>
            </a:r>
          </a:p>
          <a:p>
            <a:pPr>
              <a:spcBef>
                <a:spcPts val="6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➔ Outcome: 250 pts (Delayed selection)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CROSSWORD PUZZLE -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85800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85800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Objective: Complete the DevOps and database-themed crossword grid by typing letters in intersecting lanes.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Navigation: Click on any active cell to focus. Focus automatically shifts forward as you type.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Input Validation: Correct inputs highlight in green; mismatching characters turn red.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 Panels: Select and read clue entries dynamically in the right list panel.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Completion Payout: Complete the entire grid before the session timer expires to secure the final completion bonus.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36192"/>
            <a:ext cx="33832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ACTIVE CLUES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Across:</a:t>
            </a:r>
            <a:br/>
            <a:r>
              <a:t>2. Container orchestration built at Google (10 letters) -&gt; KUBERNETES</a:t>
            </a:r>
            <a:br/>
            <a:br/>
            <a:r>
              <a:t>Down:</a:t>
            </a:r>
            <a:br/>
            <a:r>
              <a:t>1. Infrastructure repo source of truth (6 letters) -&gt; GITOPS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⭐ MAX SCORE</a:t>
            </a:r>
          </a:p>
          <a:p>
            <a:pPr>
              <a:defRPr sz="1200" b="1">
                <a:solidFill>
                  <a:srgbClr val="FF6B57"/>
                </a:solidFill>
                <a:latin typeface="Inter"/>
              </a:defRPr>
            </a:pPr>
            <a:r>
              <a:t>1500 points (Grid Clear)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⏰ TIMER LIMIT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10 Minutes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📝 CLUE DOMAIN</a:t>
            </a:r>
          </a:p>
          <a:p>
            <a:pPr>
              <a:defRPr sz="1200" b="1">
                <a:solidFill>
                  <a:srgbClr val="FF6B57"/>
                </a:solidFill>
                <a:latin typeface="Inter"/>
              </a:defRPr>
            </a:pPr>
            <a:r>
              <a:t>DevOps &amp; Cloud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GAME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CROSSWORD PUZZLE - CLUE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FF6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Across Clues Examples</a:t>
            </a:r>
          </a:p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Clue 1: "Small, independently deployable unit in modern cloud architecture" (12 letters)</a:t>
            </a:r>
            <a:br/>
            <a:r>
              <a:t>  ➔ Answer: MICROSERVICE</a:t>
            </a:r>
          </a:p>
          <a:p>
            <a:pPr>
              <a:spcBef>
                <a:spcPts val="8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 2: "Philosophy of treating infrastructure configuration the same as application code" (6 letters)</a:t>
            </a:r>
            <a:br/>
            <a:r>
              <a:t>  ➔ Answer: GITOPS</a:t>
            </a:r>
          </a:p>
          <a:p>
            <a:pPr>
              <a:spcBef>
                <a:spcPts val="8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 3: "Simulated object used in testing to replace a real dependency" (4 letters)</a:t>
            </a:r>
            <a:br/>
            <a:r>
              <a:t>  ➔ Answer: MOCK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536192"/>
            <a:ext cx="5120640" cy="43891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Down Clues Examples</a:t>
            </a:r>
          </a:p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Clue 1: "Container orchestration platform originally built at Google" (10 letters)</a:t>
            </a:r>
            <a:br/>
            <a:r>
              <a:t>  ➔ Answer: KUBERNETES</a:t>
            </a:r>
          </a:p>
          <a:p>
            <a:pPr>
              <a:spcBef>
                <a:spcPts val="8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 2: "ACID property that ensures a transaction is all-or-nothing" (10 letters)</a:t>
            </a:r>
            <a:br/>
            <a:r>
              <a:t>  ➔ Answer: ATOMICITY</a:t>
            </a:r>
          </a:p>
          <a:p>
            <a:pPr>
              <a:spcBef>
                <a:spcPts val="8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Clue 3: "When a deployed model's accuracy degrades over time" (5 letters)</a:t>
            </a:r>
            <a:br/>
            <a:r>
              <a:t>  ➔ Answer: DRIFT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DEBRIEF SESSION: DISCUSSING ALL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106984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Collaborative Review: Gather as a team post-tournament to discuss solutions, trivia, and final ranks.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Wikipedia Paths Analysis: Compare different paths. Discuss how top players bridged remote subjects (e.g. Biology to Machine Learning in just 3 clicks).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Decrypting AI Art: Review the visual composition of the Picture Illustration clues. Share creative or humorous incorrect guesses.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Technical Deconstruction: Deep-dive into low-accuracy questions. Discuss serverless cold starts, container resource limits, and transaction properties.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Complete Answer Ledger: Renders a dynamic database page showing all answers, questions, and player submissions.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🌐 SPEEDRUN PATHS</a:t>
            </a:r>
          </a:p>
          <a:p>
            <a:pPr>
              <a:defRPr sz="1200" b="1">
                <a:solidFill>
                  <a:srgbClr val="6CE7FC"/>
                </a:solidFill>
                <a:latin typeface="Inter"/>
              </a:defRPr>
            </a:pPr>
            <a:r>
              <a:t>Compare clicks &amp; 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🎨 ILLUSTRATION REVEALS</a:t>
            </a:r>
          </a:p>
          <a:p>
            <a:pPr>
              <a:defRPr sz="1200" b="1">
                <a:solidFill>
                  <a:srgbClr val="D07BFD"/>
                </a:solidFill>
                <a:latin typeface="Inter"/>
              </a:defRPr>
            </a:pPr>
            <a:r>
              <a:t>Analyze AI art concepts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⚡ QUIZ &amp; CROSSWORDS</a:t>
            </a:r>
          </a:p>
          <a:p>
            <a:pPr>
              <a:defRPr sz="1200" b="1">
                <a:solidFill>
                  <a:srgbClr val="FFB900"/>
                </a:solidFill>
                <a:latin typeface="Inter"/>
              </a:defRPr>
            </a:pPr>
            <a:r>
              <a:t>Debrief engineering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8EA6"/>
                </a:solidFill>
                <a:latin typeface="Geist Mono"/>
              </a:defRPr>
            </a:pPr>
            <a:r>
              <a:t>▲ LEAP ARCADE OPERATOR //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F7FA"/>
                </a:solidFill>
                <a:latin typeface="Press Start 2P"/>
              </a:defRPr>
            </a:pPr>
            <a:r>
              <a:t>JOIN THE LOBBY &amp; START PLAYING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8EA6"/>
                </a:solidFill>
                <a:latin typeface="Geist Mono"/>
              </a:defRPr>
            </a:pPr>
            <a:r>
              <a:t>Stage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685800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85800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8B5C4"/>
                </a:solidFill>
                <a:latin typeface="Inter"/>
              </a:defRPr>
            </a:pPr>
            <a:r>
              <a:t>• Platform Link: Navigate to http://localhost:3000/lobby in your browser.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Enter credentials: Log in with your Employee ID and the shared Event Code.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Lobby Dashboard: Review active game tiles showing statuses: Open, Completed, or Locked.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Tournament Leaderboard: Track aggregate points and real-time standings.</a:t>
            </a:r>
          </a:p>
          <a:p>
            <a:pPr>
              <a:spcBef>
                <a:spcPts val="1000"/>
              </a:spcBef>
              <a:defRPr sz="1300">
                <a:solidFill>
                  <a:srgbClr val="B8B5C4"/>
                </a:solidFill>
                <a:latin typeface="Inter"/>
              </a:defRPr>
            </a:pPr>
            <a:r>
              <a:t>• Launching: Select an Open tile, review the Gateway start card, and click PLAY.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536192"/>
            <a:ext cx="3383280" cy="347472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3474720"/>
          </a:xfrm>
          <a:prstGeom prst="rect">
            <a:avLst/>
          </a:prstGeom>
          <a:solidFill>
            <a:srgbClr val="221E35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7FA"/>
                </a:solidFill>
                <a:latin typeface="Press Start 2P"/>
              </a:defRPr>
            </a:pPr>
            <a:r>
              <a:t>GATEWAY STATE</a:t>
            </a:r>
          </a:p>
          <a:p>
            <a:pPr>
              <a:spcBef>
                <a:spcPts val="1400"/>
              </a:spcBef>
              <a:defRPr sz="1100">
                <a:solidFill>
                  <a:srgbClr val="B8B5C4"/>
                </a:solidFill>
                <a:latin typeface="Geist Mono"/>
              </a:defRPr>
            </a:pPr>
            <a:r>
              <a:t>Authentication: OK</a:t>
            </a:r>
            <a:br/>
            <a:r>
              <a:t>Session state: Ready</a:t>
            </a:r>
            <a:br/>
            <a:r>
              <a:t>Tournament status: Live</a:t>
            </a:r>
            <a:br/>
            <a:br/>
            <a:r>
              <a:t>Ready to insert coin?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023360"/>
            <a:ext cx="2834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C0A15"/>
                </a:solidFill>
                <a:latin typeface="Press Start 2P"/>
              </a:defRPr>
            </a:pPr>
            <a:r>
              <a:t>LAUNCH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🔗 SERVER PORT</a:t>
            </a:r>
          </a:p>
          <a:p>
            <a:pPr>
              <a:defRPr sz="1200" b="1">
                <a:solidFill>
                  <a:srgbClr val="F8F7FA"/>
                </a:solidFill>
                <a:latin typeface="Inter"/>
              </a:defRPr>
            </a:pPr>
            <a:r>
              <a:t>HTTP 3000 (Frontend)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5285232"/>
            <a:ext cx="320040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5212080"/>
            <a:ext cx="320040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5303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📦 DATABASE SEED</a:t>
            </a:r>
          </a:p>
          <a:p>
            <a:pPr>
              <a:defRPr sz="1200" b="1">
                <a:solidFill>
                  <a:srgbClr val="6366F1"/>
                </a:solidFill>
                <a:latin typeface="Inter"/>
              </a:defRPr>
            </a:pPr>
            <a:r>
              <a:t>Seed status: IDEMPOTENT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5285232"/>
            <a:ext cx="3566160" cy="1097280"/>
          </a:xfrm>
          <a:prstGeom prst="rect">
            <a:avLst/>
          </a:prstGeom>
          <a:solidFill>
            <a:srgbClr val="0C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5212080"/>
            <a:ext cx="3566160" cy="1097280"/>
          </a:xfrm>
          <a:prstGeom prst="rect">
            <a:avLst/>
          </a:prstGeom>
          <a:solidFill>
            <a:srgbClr val="302B49"/>
          </a:solidFill>
          <a:ln w="19050">
            <a:solidFill>
              <a:srgbClr val="38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3035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8EA6"/>
                </a:solidFill>
                <a:latin typeface="Press Start 2P"/>
              </a:defRPr>
            </a:pPr>
            <a:r>
              <a:t>🏆 TOURNAMENT GOAL</a:t>
            </a:r>
          </a:p>
          <a:p>
            <a:pPr>
              <a:defRPr sz="1200" b="1">
                <a:solidFill>
                  <a:srgbClr val="6366F1"/>
                </a:solidFill>
                <a:latin typeface="Inter"/>
              </a:defRPr>
            </a:pPr>
            <a:r>
              <a:t>Leaderboard rank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